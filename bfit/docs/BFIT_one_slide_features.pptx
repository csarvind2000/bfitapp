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wide"/>
  <p:notesSz cx="6858000" cy="9144000"/>
  <p:defaultTextStyle/>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theme" Target="theme/theme1.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12192000" cy="6858000"/>
          <a:chOff x="0" y="0"/>
          <a:chExt cx="12192000" cy="6858000"/>
        </a:xfrm>
      </p:grpSpPr>
      <p:sp>
        <p:nvSpPr>
          <p:cNvPr id="2" name="accent"/>
          <p:cNvSpPr txBox="1"/>
          <p:nvPr/>
        </p:nvSpPr>
        <p:spPr>
          <a:xfrm>
            <a:off x="0" y="0"/>
            <a:ext cx="12193199" cy="64800"/>
          </a:xfrm>
          <a:prstGeom prst="rect">
            <a:avLst/>
          </a:prstGeom>
          <a:solidFill>
            <a:srgbClr val="22D3EE"/>
          </a:solidFill>
          <a:ln>
            <a:noFill/>
          </a:ln>
        </p:spPr>
        <p:txBody>
          <a:bodyPr wrap="square" lIns="91440" tIns="73152" rIns="91440" bIns="73152"/>
          <a:lstStyle/>
        </p:txBody>
      </p:sp>
      <p:sp>
        <p:nvSpPr>
          <p:cNvPr id="3" name="title"/>
          <p:cNvSpPr txBox="1"/>
          <p:nvPr/>
        </p:nvSpPr>
        <p:spPr>
          <a:xfrm>
            <a:off x="270000" y="179999"/>
            <a:ext cx="6768000" cy="450000"/>
          </a:xfrm>
          <a:prstGeom prst="rect">
            <a:avLst/>
          </a:prstGeom>
          <a:noFill/>
          <a:ln>
            <a:noFill/>
          </a:ln>
        </p:spPr>
        <p:txBody>
          <a:bodyPr wrap="square" lIns="91440" tIns="73152" rIns="91440" bIns="73152"/>
          <a:lstStyle/>
          <a:p>
            <a:r>
              <a:rPr lang="en-US" sz="3000" b="1">
                <a:solidFill>
                  <a:srgbClr val="F8FAFC"/>
                </a:solidFill>
              </a:rPr>
              <a:t>BFIT: Fast AI Body Composition Analysis</a:t>
            </a:r>
          </a:p>
        </p:txBody>
      </p:sp>
      <p:sp>
        <p:nvSpPr>
          <p:cNvPr id="4" name="subtitle"/>
          <p:cNvSpPr txBox="1"/>
          <p:nvPr/>
        </p:nvSpPr>
        <p:spPr>
          <a:xfrm>
            <a:off x="305999" y="558000"/>
            <a:ext cx="6768000" cy="305999"/>
          </a:xfrm>
          <a:prstGeom prst="rect">
            <a:avLst/>
          </a:prstGeom>
          <a:noFill/>
          <a:ln>
            <a:noFill/>
          </a:ln>
        </p:spPr>
        <p:txBody>
          <a:bodyPr wrap="square" lIns="91440" tIns="73152" rIns="91440" bIns="73152"/>
          <a:lstStyle/>
          <a:p>
            <a:r>
              <a:rPr lang="en-US" sz="1100" b="0">
                <a:solidFill>
                  <a:srgbClr val="B7C7D8"/>
                </a:solidFill>
              </a:rPr>
              <a:t>From DICOM study upload to segmentation masks, volumetric tables, per-slice metrics, summaries, and PDF reports.</a:t>
            </a:r>
          </a:p>
        </p:txBody>
      </p:sp>
      <p:sp>
        <p:nvSpPr>
          <p:cNvPr id="5" name="speed workflow"/>
          <p:cNvSpPr txBox="1"/>
          <p:nvPr/>
        </p:nvSpPr>
        <p:spPr>
          <a:xfrm>
            <a:off x="8640000" y="187200"/>
            <a:ext cx="3131999" cy="630000"/>
          </a:xfrm>
          <a:prstGeom prst="roundRect">
            <a:avLst/>
          </a:prstGeom>
          <a:solidFill>
            <a:srgbClr val="12313F"/>
          </a:solidFill>
          <a:ln w="9525">
            <a:solidFill>
              <a:srgbClr val="22D3EE"/>
            </a:solidFill>
          </a:ln>
        </p:spPr>
        <p:txBody>
          <a:bodyPr wrap="square" lIns="91440" tIns="73152" rIns="91440" bIns="73152"/>
          <a:lstStyle/>
          <a:p>
            <a:r>
              <a:rPr lang="en-US" sz="1200" b="1">
                <a:solidFill>
                  <a:srgbClr val="E6FBFF"/>
                </a:solidFill>
              </a:rPr>
              <a:t>Speed workflow</a:t>
            </a:r>
          </a:p>
          <a:p>
            <a:r>
              <a:rPr lang="en-US" sz="900" b="0">
                <a:solidFill>
                  <a:srgbClr val="E6FBFF"/>
                </a:solidFill>
              </a:rPr>
              <a:t>Upload -&gt; Analyse -&gt; Processing -&gt; Completed</a:t>
            </a:r>
          </a:p>
          <a:p>
            <a:r>
              <a:rPr lang="en-US" sz="850" b="0">
                <a:solidFill>
                  <a:srgbClr val="BDECF5"/>
                </a:solidFill>
              </a:rPr>
              <a:t>Review outputs as soon as AI inference finishes</a:t>
            </a:r>
          </a:p>
        </p:txBody>
      </p:sp>
      <p:sp>
        <p:nvSpPr>
          <p:cNvPr id="6" name="1. Study workflow"/>
          <p:cNvSpPr txBox="1"/>
          <p:nvPr/>
        </p:nvSpPr>
        <p:spPr>
          <a:xfrm>
            <a:off x="305999" y="1062000"/>
            <a:ext cx="2592000" cy="1170000"/>
          </a:xfrm>
          <a:prstGeom prst="roundRect">
            <a:avLst/>
          </a:prstGeom>
          <a:solidFill>
            <a:srgbClr val="10233B"/>
          </a:solidFill>
          <a:ln w="9525">
            <a:solidFill>
              <a:srgbClr val="38BDF8"/>
            </a:solidFill>
          </a:ln>
        </p:spPr>
        <p:txBody>
          <a:bodyPr wrap="square" lIns="91440" tIns="73152" rIns="91440" bIns="73152"/>
          <a:lstStyle/>
          <a:p>
            <a:r>
              <a:rPr lang="en-US" sz="1250" b="1">
                <a:solidFill>
                  <a:srgbClr val="FFFFFF"/>
                </a:solidFill>
              </a:rPr>
              <a:t>1. Study workflow</a:t>
            </a:r>
          </a:p>
          <a:p>
            <a:r>
              <a:rPr lang="en-US" sz="850" b="0">
                <a:solidFill>
                  <a:srgbClr val="D8E3EE"/>
                </a:solidFill>
              </a:rPr>
              <a:t>Secure login and user sessions</a:t>
            </a:r>
          </a:p>
          <a:p>
            <a:r>
              <a:rPr lang="en-US" sz="850" b="0">
                <a:solidFill>
                  <a:srgbClr val="D8E3EE"/>
                </a:solidFill>
              </a:rPr>
              <a:t>Upload DICOM folders or connect PACS</a:t>
            </a:r>
          </a:p>
          <a:p>
            <a:r>
              <a:rPr lang="en-US" sz="850" b="0">
                <a:solidFill>
                  <a:srgbClr val="D8E3EE"/>
                </a:solidFill>
              </a:rPr>
              <a:t>Search/filter by patient, study, series, IDs</a:t>
            </a:r>
          </a:p>
          <a:p>
            <a:r>
              <a:rPr lang="en-US" sz="850" b="0">
                <a:solidFill>
                  <a:srgbClr val="D8E3EE"/>
                </a:solidFill>
              </a:rPr>
              <a:t>Queue analysis and monitor status</a:t>
            </a:r>
          </a:p>
        </p:txBody>
      </p:sp>
      <p:sp>
        <p:nvSpPr>
          <p:cNvPr id="7" name="2. Analysis types"/>
          <p:cNvSpPr txBox="1"/>
          <p:nvPr/>
        </p:nvSpPr>
        <p:spPr>
          <a:xfrm>
            <a:off x="3006000" y="1062000"/>
            <a:ext cx="2592000" cy="1170000"/>
          </a:xfrm>
          <a:prstGeom prst="roundRect">
            <a:avLst/>
          </a:prstGeom>
          <a:solidFill>
            <a:srgbClr val="10291F"/>
          </a:solidFill>
          <a:ln w="9525">
            <a:solidFill>
              <a:srgbClr val="6EE7A8"/>
            </a:solidFill>
          </a:ln>
        </p:spPr>
        <p:txBody>
          <a:bodyPr wrap="square" lIns="91440" tIns="73152" rIns="91440" bIns="73152"/>
          <a:lstStyle/>
          <a:p>
            <a:r>
              <a:rPr lang="en-US" sz="1250" b="1">
                <a:solidFill>
                  <a:srgbClr val="FFFFFF"/>
                </a:solidFill>
              </a:rPr>
              <a:t>2. Analysis types</a:t>
            </a:r>
          </a:p>
          <a:p>
            <a:r>
              <a:rPr lang="en-US" sz="850" b="0">
                <a:solidFill>
                  <a:srgbClr val="D8E3EE"/>
                </a:solidFill>
              </a:rPr>
              <a:t>Abdomen MR and CT segmentation</a:t>
            </a:r>
          </a:p>
          <a:p>
            <a:r>
              <a:rPr lang="en-US" sz="850" b="0">
                <a:solidFill>
                  <a:srgbClr val="D8E3EE"/>
                </a:solidFill>
              </a:rPr>
              <a:t>Thigh MR and CT segmentation</a:t>
            </a:r>
          </a:p>
          <a:p>
            <a:r>
              <a:rPr lang="en-US" sz="850" b="0">
                <a:solidFill>
                  <a:srgbClr val="D8E3EE"/>
                </a:solidFill>
              </a:rPr>
              <a:t>Thigh: 4-class, 5-class, 48-class masks</a:t>
            </a:r>
          </a:p>
          <a:p>
            <a:r>
              <a:rPr lang="en-US" sz="850" b="0">
                <a:solidFill>
                  <a:srgbClr val="D8E3EE"/>
                </a:solidFill>
              </a:rPr>
              <a:t>Abdomen: regional tissue mask analysis</a:t>
            </a:r>
          </a:p>
        </p:txBody>
      </p:sp>
      <p:sp>
        <p:nvSpPr>
          <p:cNvPr id="8" name="3. Review and refine"/>
          <p:cNvSpPr txBox="1"/>
          <p:nvPr/>
        </p:nvSpPr>
        <p:spPr>
          <a:xfrm>
            <a:off x="5706000" y="1062000"/>
            <a:ext cx="2592000" cy="1170000"/>
          </a:xfrm>
          <a:prstGeom prst="roundRect">
            <a:avLst/>
          </a:prstGeom>
          <a:solidFill>
            <a:srgbClr val="332713"/>
          </a:solidFill>
          <a:ln w="9525">
            <a:solidFill>
              <a:srgbClr val="F8C14A"/>
            </a:solidFill>
          </a:ln>
        </p:spPr>
        <p:txBody>
          <a:bodyPr wrap="square" lIns="91440" tIns="73152" rIns="91440" bIns="73152"/>
          <a:lstStyle/>
          <a:p>
            <a:r>
              <a:rPr lang="en-US" sz="1250" b="1">
                <a:solidFill>
                  <a:srgbClr val="FFFFFF"/>
                </a:solidFill>
              </a:rPr>
              <a:t>3. Review and refine</a:t>
            </a:r>
          </a:p>
          <a:p>
            <a:r>
              <a:rPr lang="en-US" sz="850" b="0">
                <a:solidFill>
                  <a:srgbClr val="D8E3EE"/>
                </a:solidFill>
              </a:rPr>
              <a:t>Axial, sagittal, coronal, and 3D views</a:t>
            </a:r>
          </a:p>
          <a:p>
            <a:r>
              <a:rPr lang="en-US" sz="850" b="0">
                <a:solidFill>
                  <a:srgbClr val="D8E3EE"/>
                </a:solidFill>
              </a:rPr>
              <a:t>Toggle masks, labels, opacity, tooltips</a:t>
            </a:r>
          </a:p>
          <a:p>
            <a:r>
              <a:rPr lang="en-US" sz="850" b="0">
                <a:solidFill>
                  <a:srgbClr val="D8E3EE"/>
                </a:solidFill>
              </a:rPr>
              <a:t>Bound upper/middle/lower thigh regions</a:t>
            </a:r>
          </a:p>
          <a:p>
            <a:r>
              <a:rPr lang="en-US" sz="850" b="0">
                <a:solidFill>
                  <a:srgbClr val="D8E3EE"/>
                </a:solidFill>
              </a:rPr>
              <a:t>Draw, erase, undo/redo, zoom, save edits</a:t>
            </a:r>
          </a:p>
        </p:txBody>
      </p:sp>
      <p:sp>
        <p:nvSpPr>
          <p:cNvPr id="9" name="4. Quantitative outputs"/>
          <p:cNvSpPr txBox="1"/>
          <p:nvPr/>
        </p:nvSpPr>
        <p:spPr>
          <a:xfrm>
            <a:off x="8406000" y="1062000"/>
            <a:ext cx="3365999" cy="1170000"/>
          </a:xfrm>
          <a:prstGeom prst="roundRect">
            <a:avLst/>
          </a:prstGeom>
          <a:solidFill>
            <a:srgbClr val="341725"/>
          </a:solidFill>
          <a:ln w="9525">
            <a:solidFill>
              <a:srgbClr val="F29ABF"/>
            </a:solidFill>
          </a:ln>
        </p:spPr>
        <p:txBody>
          <a:bodyPr wrap="square" lIns="91440" tIns="73152" rIns="91440" bIns="73152"/>
          <a:lstStyle/>
          <a:p>
            <a:r>
              <a:rPr lang="en-US" sz="1250" b="1">
                <a:solidFill>
                  <a:srgbClr val="FFFFFF"/>
                </a:solidFill>
              </a:rPr>
              <a:t>4. Quantitative outputs</a:t>
            </a:r>
          </a:p>
          <a:p>
            <a:r>
              <a:rPr lang="en-US" sz="850" b="0">
                <a:solidFill>
                  <a:srgbClr val="D8E3EE"/>
                </a:solidFill>
              </a:rPr>
              <a:t>Tissue volume tables with label colors</a:t>
            </a:r>
          </a:p>
          <a:p>
            <a:r>
              <a:rPr lang="en-US" sz="850" b="0">
                <a:solidFill>
                  <a:srgbClr val="D8E3EE"/>
                </a:solidFill>
              </a:rPr>
              <a:t>Sub-muscle table for 48-class thigh analysis</a:t>
            </a:r>
          </a:p>
          <a:p>
            <a:r>
              <a:rPr lang="en-US" sz="850" b="0">
                <a:solidFill>
                  <a:srgbClr val="D8E3EE"/>
                </a:solidFill>
              </a:rPr>
              <a:t>Per-slice area and volume while scrolling</a:t>
            </a:r>
          </a:p>
          <a:p>
            <a:r>
              <a:rPr lang="en-US" sz="850" b="0">
                <a:solidFill>
                  <a:srgbClr val="D8E3EE"/>
                </a:solidFill>
              </a:rPr>
              <a:t>Local LLM summary and report download</a:t>
            </a:r>
          </a:p>
        </p:txBody>
      </p:sp>
      <p:sp>
        <p:nvSpPr>
          <p:cNvPr id="10" name="how fast"/>
          <p:cNvSpPr txBox="1"/>
          <p:nvPr/>
        </p:nvSpPr>
        <p:spPr>
          <a:xfrm>
            <a:off x="305999" y="2394000"/>
            <a:ext cx="11466000" cy="359999"/>
          </a:xfrm>
          <a:prstGeom prst="rect">
            <a:avLst/>
          </a:prstGeom>
          <a:noFill/>
          <a:ln>
            <a:noFill/>
          </a:ln>
        </p:spPr>
        <p:txBody>
          <a:bodyPr wrap="square" lIns="91440" tIns="73152" rIns="91440" bIns="73152"/>
          <a:lstStyle/>
          <a:p>
            <a:r>
              <a:rPr lang="en-US" sz="1300" b="1">
                <a:solidFill>
                  <a:srgbClr val="FFFFFF"/>
                </a:solidFill>
              </a:rPr>
              <a:t>How fast?</a:t>
            </a:r>
          </a:p>
          <a:p>
            <a:r>
              <a:rPr lang="en-US" sz="880" b="0">
                <a:solidFill>
                  <a:srgbClr val="B7C7D8"/>
                </a:solidFill>
              </a:rPr>
              <a:t>BFIT runs analysis asynchronously: users start an analysis, see Processing immediately, and can open the completed result as soon as the AI worker returns masks, metrics, plots, and artifacts. Exact runtime depends on scan size, modality, hardware/GPU load, and queue length.</a:t>
            </a:r>
          </a:p>
        </p:txBody>
      </p:sp>
      <p:sp>
        <p:nvSpPr>
          <p:cNvPr id="11" name="sources"/>
          <p:cNvSpPr txBox="1"/>
          <p:nvPr/>
        </p:nvSpPr>
        <p:spPr>
          <a:xfrm>
            <a:off x="305999" y="6498000"/>
            <a:ext cx="11466000" cy="162000"/>
          </a:xfrm>
          <a:prstGeom prst="rect">
            <a:avLst/>
          </a:prstGeom>
          <a:noFill/>
          <a:ln>
            <a:noFill/>
          </a:ln>
        </p:spPr>
        <p:txBody>
          <a:bodyPr wrap="square" lIns="91440" tIns="73152" rIns="91440" bIns="73152"/>
          <a:lstStyle/>
          <a:p>
            <a:r>
              <a:rPr lang="en-US" sz="760" b="0">
                <a:solidFill>
                  <a:srgbClr val="93A4B8"/>
                </a:solidFill>
              </a:rPr>
              <a:t>Sources: BFIT User Manual; BFIT system architecture docs; frontend/backend analysis and reporting modules.</a:t>
            </a:r>
          </a:p>
        </p:txBody>
      </p:sp>
    </p:spTree>
  </p:cSld>
  <p:clrMapOvr>
    <a:masterClrMapping/>
  </p:clrMapOvr>
</p:sld>
</file>

<file path=ppt/theme/theme1.xml><?xml version="1.0" encoding="utf-8"?>
<a:theme xmlns:a="http://schemas.openxmlformats.org/drawingml/2006/main" name="BFIT">
  <a:themeElements>
    <a:clrScheme name="BFIT">
      <a:dk1>
        <a:srgbClr val="0B1220"/>
      </a:dk1>
      <a:lt1>
        <a:srgbClr val="FFFFFF"/>
      </a:lt1>
      <a:dk2>
        <a:srgbClr val="1F2937"/>
      </a:dk2>
      <a:lt2>
        <a:srgbClr val="F8FAFC"/>
      </a:lt2>
      <a:accent1>
        <a:srgbClr val="22D3EE"/>
      </a:accent1>
      <a:accent2>
        <a:srgbClr val="6EE7A8"/>
      </a:accent2>
      <a:accent3>
        <a:srgbClr val="F8C14A"/>
      </a:accent3>
      <a:accent4>
        <a:srgbClr val="F29ABF"/>
      </a:accent4>
      <a:accent5>
        <a:srgbClr val="38BDF8"/>
      </a:accent5>
      <a:accent6>
        <a:srgbClr val="B7C7D8"/>
      </a:accent6>
      <a:hlink>
        <a:srgbClr val="38BDF8"/>
      </a:hlink>
      <a:folHlink>
        <a:srgbClr val="F29ABF"/>
      </a:folHlink>
    </a:clrScheme>
    <a:fontScheme name="BFIT">
      <a:majorFont>
        <a:latin typeface="Aptos Display"/>
      </a:majorFont>
      <a:minorFont>
        <a:latin typeface="Aptos"/>
      </a:minorFont>
    </a:fontScheme>
    <a:fmtScheme name="BFIT">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Codex</Application>
  <PresentationFormat>On-screen Show (16:9)</PresentationFormat>
  <Slides>1</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BFIT one-slide features overview</dc:title>
  <dc:creator>Codex</dc:creator>
</cp:coreProperties>
</file>